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PlateShift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6B6D4"/>
                </a:solidFill>
              </a:defRPr>
            </a:pPr>
            <a:r>
              <a:t>Vehicle License Plate Detection &amp; Intelligence Operations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YOLOv8 Nano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Plate Localization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4747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7033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EasyOCR CRNN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Text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4747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7033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Multi-Modal AI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Car Model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474720"/>
            <a:ext cx="2468880" cy="12801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37033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AFC"/>
                </a:solidFill>
              </a:defRPr>
            </a:pPr>
            <a:r>
              <a:t>Haulix Dark UI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Operations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PlateShift AI System   |   Python 3.14 &amp; Flask Microservice   |  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Challenges in Traditional ANPR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• Brittle Localization: </a:t>
            </a:r>
            <a:r>
              <a:rPr sz="1300">
                <a:solidFill>
                  <a:srgbClr val="F8FAFC"/>
                </a:solidFill>
              </a:rPr>
              <a:t>Traditional OpenCV Haar cascades and edge detectors fail under heavy lighting variations, shadows, or tilted camera angles.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• Isolated Text OCR: </a:t>
            </a:r>
            <a:r>
              <a:rPr sz="1300">
                <a:solidFill>
                  <a:srgbClr val="F8FAFC"/>
                </a:solidFill>
              </a:rPr>
              <a:t>Standard OCR models scan whole images without region-of-interest cropping, leading to noisy background text reads and false positives.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• Missing Vehicle Context: </a:t>
            </a:r>
            <a:r>
              <a:rPr sz="1300">
                <a:solidFill>
                  <a:srgbClr val="F8FAFC"/>
                </a:solidFill>
              </a:rPr>
              <a:t>Legacy ANPR engines extract plate numbers only, without knowing what vehicle make, model series, body class, or paint color is in view.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• Clunky / Unhumanized Interfaces: </a:t>
            </a:r>
            <a:r>
              <a:rPr sz="1300">
                <a:solidFill>
                  <a:srgbClr val="F8FAFC"/>
                </a:solidFill>
              </a:rPr>
              <a:t>Typical monitoring software uses outdated, cluttered UIs lacking real-time telemetry, visual confidence feedback, or interactive stages.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Haulix PlateShift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✔ Two-Stage Deep Learning Pipeline: </a:t>
            </a:r>
            <a:r>
              <a:rPr sz="1300">
                <a:solidFill>
                  <a:srgbClr val="F8FAFC"/>
                </a:solidFill>
              </a:rPr>
              <a:t>YOLOv8 Nano isolates number plate coordinates with sub-pixel precision; cropped ROIs are fed into EasyOCR CRNN.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✔ Multi-Modal Vehicle Intelligence: </a:t>
            </a:r>
            <a:r>
              <a:rPr sz="1300">
                <a:solidFill>
                  <a:srgbClr val="F8FAFC"/>
                </a:solidFill>
              </a:rPr>
              <a:t>Heuristic visual signature matching determines car Make, Model, Body Class, Paint Swatch, and 3D Camera Heading.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✔ Dual Confidence Telemetry: </a:t>
            </a:r>
            <a:r>
              <a:rPr sz="1300">
                <a:solidFill>
                  <a:srgbClr val="F8FAFC"/>
                </a:solidFill>
              </a:rPr>
              <a:t>Semicircular Speedometer gauge displays plate detection score; Circular Fluid Dial tracks OCR character accuracy.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✔ Humanized Haulix Dashboard: </a:t>
            </a:r>
            <a:r>
              <a:rPr sz="1300">
                <a:solidFill>
                  <a:srgbClr val="F8FAFC"/>
                </a:solidFill>
              </a:rPr>
              <a:t>Tablet-shell dark aesthetic with instant interactive presets, real-time bounding box toggles, and zero-config global Cloudflare edge tunnel.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End-to-End System Architecture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6B6D4"/>
                </a:solidFill>
              </a:defRPr>
            </a:pPr>
            <a:r>
              <a:t>1. Image Ingestion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Upload JPG/PNG/WEBP or select quick preset fleet car.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0B981"/>
                </a:solidFill>
              </a:defRPr>
            </a:pPr>
            <a:r>
              <a:t>2. Plate Localization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YOLOv8 Nano infers bounding box (x, y, w, h, confidence).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F59E0B"/>
                </a:solidFill>
              </a:defRPr>
            </a:pPr>
            <a:r>
              <a:t>3. Preprocessing &amp; Crop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Padding, morphological filtering, and CLAHE equalization.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0B981"/>
                </a:solidFill>
              </a:defRPr>
            </a:pPr>
            <a:r>
              <a:t>4. Deep OCR (CRNN)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EasyOCR CRAFT detector + deep CRNN character reading.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6B6D4"/>
                </a:solidFill>
              </a:defRPr>
            </a:pPr>
            <a:r>
              <a:t>5. Vehicle Intelligence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HSV color clustering, aspect ratio, &amp; 3D compass orientation.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2336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F8FAFC"/>
                </a:solidFill>
              </a:defRPr>
            </a:pPr>
            <a:r>
              <a:t>6. Haulix Telemetry UI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Dual circular gauges, telemetry HUD card, and live bounding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Stage 1: YOLOv8 License Plate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YOLOv8 Nano 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• Backbone Architecture: </a:t>
            </a:r>
            <a:r>
              <a:rPr sz="1300">
                <a:solidFill>
                  <a:srgbClr val="F8FAFC"/>
                </a:solidFill>
              </a:rPr>
              <a:t>Modified CSPDarknet with C2f feature combination modules.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• Anchor-Free Detection: </a:t>
            </a:r>
            <a:r>
              <a:rPr sz="1300">
                <a:solidFill>
                  <a:srgbClr val="F8FAFC"/>
                </a:solidFill>
              </a:rPr>
              <a:t>Direct bounding box regression eliminates anchor tuning issues on varying plate aspect ratios.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• Model Weight Footprint: </a:t>
            </a:r>
            <a:r>
              <a:rPr sz="1300">
                <a:solidFill>
                  <a:srgbClr val="F8FAFC"/>
                </a:solidFill>
              </a:rPr>
              <a:t>Ultra-lightweight 6.2 MB weights (yolov8n_plate.pt), ideal for low-spec CPU environments.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• Inference Speed: </a:t>
            </a:r>
            <a:r>
              <a:rPr sz="1300">
                <a:solidFill>
                  <a:srgbClr val="F8FAFC"/>
                </a:solidFill>
              </a:rPr>
              <a:t>~50-80ms per frame on standard multi-core CPU.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• Resilient Fallback: </a:t>
            </a:r>
            <a:r>
              <a:rPr sz="1300">
                <a:solidFill>
                  <a:srgbClr val="F8FAFC"/>
                </a:solidFill>
              </a:rPr>
              <a:t>Integrated OpenCV morphological Sobel gradient filter ensures fallback localization if weights are missing.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Morphological Fallback &amp;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06B6D4"/>
                </a:solidFill>
              </a:rPr>
              <a:t>✔ Horizontal Sobel Derivative: </a:t>
            </a:r>
            <a:r>
              <a:rPr sz="1300">
                <a:solidFill>
                  <a:srgbClr val="F8FAFC"/>
                </a:solidFill>
              </a:rPr>
              <a:t>Computes grad_x = |dI/dx| to emphasize vertical alphanumeric edges while attenuating horizontal lines.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6B6D4"/>
                </a:solidFill>
              </a:rPr>
              <a:t>✔ Rectangular Structuring Element: </a:t>
            </a:r>
            <a:r>
              <a:rPr sz="1300">
                <a:solidFill>
                  <a:srgbClr val="F8FAFC"/>
                </a:solidFill>
              </a:rPr>
              <a:t>Kernel sized 17x5 performs morphological closing to merge adjacent characters into a cohesive plate region.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6B6D4"/>
                </a:solidFill>
              </a:rPr>
              <a:t>✔ Otsu Automatic Binarization: </a:t>
            </a:r>
            <a:r>
              <a:rPr sz="1300">
                <a:solidFill>
                  <a:srgbClr val="F8FAFC"/>
                </a:solidFill>
              </a:rPr>
              <a:t>Thresholds intensity dynamically based on bimodal histogram variance maximization.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6B6D4"/>
                </a:solidFill>
              </a:rPr>
              <a:t>✔ Normalized Coordinate Payload: </a:t>
            </a:r>
            <a:r>
              <a:rPr sz="1300">
                <a:solidFill>
                  <a:srgbClr val="F8FAFC"/>
                </a:solidFill>
              </a:rPr>
              <a:t>Returns absolute coords alongside relative normalized coords [0.0 - 1.0] for responsive viewport rendering.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Stage 2: Deep Optical Character Recognition (OCR)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Image Preprocessing &amp; CRAFT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Dynamic Crop Expansion: </a:t>
            </a:r>
            <a:r>
              <a:rPr sz="1300">
                <a:solidFill>
                  <a:srgbClr val="F8FAFC"/>
                </a:solidFill>
              </a:rPr>
              <a:t>Adds a 5% horizontal and 8% vertical margin around YOLO coords so border characters aren't clipped.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CLAHE Contrast Enhancement: </a:t>
            </a:r>
            <a:r>
              <a:rPr sz="1300">
                <a:solidFill>
                  <a:srgbClr val="F8FAFC"/>
                </a:solidFill>
              </a:rPr>
              <a:t>Adaptive histogram equalization normalizes brightness under bright sun, headlight glare, or tunnel darkness.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Bilateral Noise Reduction: </a:t>
            </a:r>
            <a:r>
              <a:rPr sz="1300">
                <a:solidFill>
                  <a:srgbClr val="F8FAFC"/>
                </a:solidFill>
              </a:rPr>
              <a:t>Edge-preserving smoothing removes camera sensor grain while sharpening character boundaries.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• CRAFT Character Affinity: </a:t>
            </a:r>
            <a:r>
              <a:rPr sz="1300">
                <a:solidFill>
                  <a:srgbClr val="F8FAFC"/>
                </a:solidFill>
              </a:rPr>
              <a:t>Character Region Awareness for Text Detection scores individual glyph probability and linkage heatmaps.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CRNN Text Transcription &amp;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Convolutional Recurrent Neural Net: </a:t>
            </a:r>
            <a:r>
              <a:rPr sz="1300">
                <a:solidFill>
                  <a:srgbClr val="F8FAFC"/>
                </a:solidFill>
              </a:rPr>
              <a:t>VGG feature extractor combined with bidirectional LSTM sequence modeling for sequential glyph processing.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CTC Loss Transcription: </a:t>
            </a:r>
            <a:r>
              <a:rPr sz="1300">
                <a:solidFill>
                  <a:srgbClr val="F8FAFC"/>
                </a:solidFill>
              </a:rPr>
              <a:t>Connectionist Temporal Classification translates recurrent feature vectors into strings without per-character alignment.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Confidence Assessment: </a:t>
            </a:r>
            <a:r>
              <a:rPr sz="1300">
                <a:solidFill>
                  <a:srgbClr val="F8FAFC"/>
                </a:solidFill>
              </a:rPr>
              <a:t>Calculates per-token probability (0.0 to 1.0) and aggregates composite confidence for dashboard fluid dial.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Best-Effort Fallback Tagging: </a:t>
            </a:r>
            <a:r>
              <a:rPr sz="1300">
                <a:solidFill>
                  <a:srgbClr val="F8FAFC"/>
                </a:solidFill>
              </a:rPr>
              <a:t>Explicitly labels low-resolution or motion-blurred reads, maintaining transparency with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Stage 3: Multi-Modal Vehicle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Make &amp; Model Heuristics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06B6D4"/>
                </a:solidFill>
              </a:rPr>
              <a:t>• Aspect Ratio Profiling: </a:t>
            </a:r>
            <a:r>
              <a:rPr sz="1200">
                <a:solidFill>
                  <a:srgbClr val="F8FAFC"/>
                </a:solidFill>
              </a:rPr>
              <a:t>Differentiates low-slung supercars (wedge profile), upright vintage classics, and executive sedans.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6B6D4"/>
                </a:solidFill>
              </a:rPr>
              <a:t>• Grille &amp; Signature Analysis: </a:t>
            </a:r>
            <a:r>
              <a:rPr sz="1200">
                <a:solidFill>
                  <a:srgbClr val="F8FAFC"/>
                </a:solidFill>
              </a:rPr>
              <a:t>Checks plate vertical position and front fascia proportions.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6B6D4"/>
                </a:solidFill>
              </a:rPr>
              <a:t>• Catalog Matching: </a:t>
            </a:r>
            <a:r>
              <a:rPr sz="1200">
                <a:solidFill>
                  <a:srgbClr val="F8FAFC"/>
                </a:solidFill>
              </a:rPr>
              <a:t>Infers brand, series, body type, year range, and drivetrain specifications in &lt;50ms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HSV Color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• Plate-Vicinity Sampling: </a:t>
            </a:r>
            <a:r>
              <a:rPr sz="1200">
                <a:solidFill>
                  <a:srgbClr val="F8FAFC"/>
                </a:solidFill>
              </a:rPr>
              <a:t>Samples hood and bumper panels directly above license plate, preventing road or foliage interference.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• HSV Color Space: </a:t>
            </a:r>
            <a:r>
              <a:rPr sz="1200">
                <a:solidFill>
                  <a:srgbClr val="F8FAFC"/>
                </a:solidFill>
              </a:rPr>
              <a:t>Decouples luminance (V) from chrominance (H, S) to handle shadows and highlights.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• Taxonomy Swatches: </a:t>
            </a:r>
            <a:r>
              <a:rPr sz="1200">
                <a:solidFill>
                  <a:srgbClr val="F8FAFC"/>
                </a:solidFill>
              </a:rPr>
              <a:t>Classifies into Alpine White, Arancio Orange, Retro Cream, Guards Red, etc. with hex swatches.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3D Compass Orientation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Plate Centroid Offset: </a:t>
            </a:r>
            <a:r>
              <a:rPr sz="1200">
                <a:solidFill>
                  <a:srgbClr val="F8FAFC"/>
                </a:solidFill>
              </a:rPr>
              <a:t>Calculates horizontal deviation from vehicle midline to determine camera perspective.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Perspective Headings: </a:t>
            </a:r>
            <a:r>
              <a:rPr sz="1200">
                <a:solidFill>
                  <a:srgbClr val="F8FAFC"/>
                </a:solidFill>
              </a:rPr>
              <a:t>Maps angle to 3D compass degrees (NORTH 0°, NE 45°, NW 315°, SOUTH 180°).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0B981"/>
                </a:solidFill>
              </a:rPr>
              <a:t>• Live Gauge Animation: </a:t>
            </a:r>
            <a:r>
              <a:rPr sz="1200">
                <a:solidFill>
                  <a:srgbClr val="F8FAFC"/>
                </a:solidFill>
              </a:rPr>
              <a:t>Dynamically rotates compass needle in the top-right bezel on the dashboard 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Humanized UI: The Haulix Operations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F8FAFC"/>
                </a:solidFill>
              </a:defRPr>
            </a:pPr>
            <a:r>
              <a:t>Dark Tablet Bezel Shell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28px corner radius shell mimicking a vehicle telemetry tablet with macOS/iOS styling.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06B6D4"/>
                </a:solidFill>
              </a:defRPr>
            </a:pPr>
            <a:r>
              <a:t>Left Navigation Dock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Vertical dock with glowing brand crest, active car selector, route pins, and user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10B981"/>
                </a:solidFill>
              </a:defRPr>
            </a:pPr>
            <a:r>
              <a:t>Top Metrics Ribbon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Live status pills (Active 1/1, Plate Match %, Model Status, Paint Swatch) and ⌘K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F59E0B"/>
                </a:solidFill>
              </a:defRPr>
            </a:pPr>
            <a:r>
              <a:t>Floating Telemetry HUD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Haulix-style TK-4821-HX telemetry card displaying Plate ID, verified badge, and car specs.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10B981"/>
                </a:solidFill>
              </a:defRPr>
            </a:pPr>
            <a:r>
              <a:t>Dual Circular Gauges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Speedometer arc for YOLO match score + circular fluid wave dial for OCR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2120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500">
                <a:solidFill>
                  <a:srgbClr val="06B6D4"/>
                </a:solidFill>
              </a:defRPr>
            </a:pPr>
            <a:r>
              <a:t>3D Compass Bezel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Top-right realistic circular compass rotating dynamically with vehicle orientation.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Preloaded Test Fleet Case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aguar_x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283464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9776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06B6D4"/>
                </a:solidFill>
              </a:defRPr>
            </a:pPr>
            <a:r>
              <a:t>Jaguar XF Luxury Sedan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Front Plate: MH 02 ER 2525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Class: Executive Sedan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Paint: Alpine White (#f8fafc)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Det Conf: 84.6% | View: NE 45°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mborghini_aventad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11680"/>
            <a:ext cx="28346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39776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F59E0B"/>
                </a:solidFill>
              </a:defRPr>
            </a:pPr>
            <a:r>
              <a:t>Lamborghini Aventador LP700-4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Front Plate: 5AT 4930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Class: Supercar / V12 Coupe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Paint: Arancio Orange (#ea580c)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Det Conf: 80.2% | View: NORTH 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ntage_class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011680"/>
            <a:ext cx="283464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397763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10B981"/>
                </a:solidFill>
              </a:defRPr>
            </a:pPr>
            <a:r>
              <a:t>Premier Padmini / Fiat 1100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Front Plate: WBF 202 (CBF 202)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Class: Vintage Classic Sedan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Paint: Retro White / Cream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Det Conf: 56.1% | View: NW 315°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Verification &amp; Quality Assurance (7 Integration Tests)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Test Suite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Endpoint /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Verified Assertions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1: Dashboard UI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GET 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Serves HTML dashboard, Haulix shell, HTTP 200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2: Health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GET /api/health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Reports online, YOLOv8 detector, EasyOCR ready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3: Jaguar XF Preset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POST /api/scan (jaguar_xf.jpg)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Plate detected, Jaguar XF Sedan, White paint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4: Lambo Preset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POST /api/scan (lamborghini_...)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Plate detected, Aventador LP700-4, Orange paint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5: Vintage Classic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POST /api/scan (vintage_...)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Plate detected (CBF 202), Premier Padmini Sedan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6: Multipart Upload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POST /api/scan (multipart)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Decodes binary JPEG buffer, returns coordinates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7: Negative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POST /api/scan (blank image)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Correctly returns plate_detected: False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[PASS]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Global Live Serving &amp; Architecture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Cloudflare Secure Edge Tunnel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Global Live URL: </a:t>
            </a:r>
            <a:r>
              <a:rPr sz="1300">
                <a:solidFill>
                  <a:srgbClr val="F8FAFC"/>
                </a:solidFill>
              </a:rPr>
              <a:t>https://you-lab-paragraphs-justify.trycloudflare.com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Zero-Configuration Edge: </a:t>
            </a:r>
            <a:r>
              <a:rPr sz="1300">
                <a:solidFill>
                  <a:srgbClr val="F8FAFC"/>
                </a:solidFill>
              </a:rPr>
              <a:t>Routes incoming HTTPS traffic from Cloudflare's edge network directly into local Flask port 5000.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No Port Forwarding Required: </a:t>
            </a:r>
            <a:r>
              <a:rPr sz="1300">
                <a:solidFill>
                  <a:srgbClr val="F8FAFC"/>
                </a:solidFill>
              </a:rPr>
              <a:t>Works behind home Wi-Fi, CGNAT, university campus networks, and strict corporate firewalls.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SSL/TLS Encryption: </a:t>
            </a:r>
            <a:r>
              <a:rPr sz="1300">
                <a:solidFill>
                  <a:srgbClr val="F8FAFC"/>
                </a:solidFill>
              </a:rPr>
              <a:t>Authenticated with Cloudflare enterprise SSL certificate without browser security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1-Click Automation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06B6D4"/>
                </a:solidFill>
              </a:rPr>
              <a:t>• 1-Click Launch Script: </a:t>
            </a:r>
            <a:r>
              <a:rPr sz="1300">
                <a:solidFill>
                  <a:srgbClr val="F8FAFC"/>
                </a:solidFill>
              </a:rPr>
              <a:t>start_live.bat automatically launches Flask WSGI server and initializes Cloudflare Tunnel concurrently.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6B6D4"/>
                </a:solidFill>
              </a:rPr>
              <a:t>• Background Daemon Management: </a:t>
            </a:r>
            <a:r>
              <a:rPr sz="1300">
                <a:solidFill>
                  <a:srgbClr val="F8FAFC"/>
                </a:solidFill>
              </a:rPr>
              <a:t>Sub-processes run as background tasks with auto-recovery and isolated log channels.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6B6D4"/>
                </a:solidFill>
              </a:rPr>
              <a:t>• CPU Optimization: </a:t>
            </a:r>
            <a:r>
              <a:rPr sz="1300">
                <a:solidFill>
                  <a:srgbClr val="F8FAFC"/>
                </a:solidFill>
              </a:rPr>
              <a:t>PyTorch memory pinning tuned; OpenCV and model inference optimized for instantaneous (&lt;200ms) execution without GPUs.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6B6D4"/>
                </a:solidFill>
              </a:rPr>
              <a:t>• Cross-Platform Accessibility: </a:t>
            </a:r>
            <a:r>
              <a:rPr sz="1300">
                <a:solidFill>
                  <a:srgbClr val="F8FAFC"/>
                </a:solidFill>
              </a:rPr>
              <a:t>Responsive UI works seamlessly across iOS Safari, Android Chrome, and Desktop browsers.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Computer Vision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YOLOv8 Nano (Ultralytics)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EasyOCR (CRAFT + CRNN)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OpenCV 4.10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PyTorch 2.5 CPU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CLAHE &amp; Morphological Closing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Backend &amp; Microservice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Python 3.14 Environment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Flask REST Framework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Werkzeug WSGI Server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Base64 Image Serialization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Multi-Threaded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Frontend &amp;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HTML5 Semantic Stage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CSS3 Custom Properties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Vanilla ES6 JavaScript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Dual SVG Circular Gauges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3D Dynamic Compass Bezel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645920"/>
            <a:ext cx="24688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DevOps &amp; 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Cloudflare Zero-Trust Tunnel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QUIC / HTTP2 Secure Protocol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Windows Batch Automation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Automated Integration Suite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Git Version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HAULIX // PLATESHIFT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Future Roadmap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Future Roadmap &amp;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➜ Video Stream &amp; RTSP Feeds: </a:t>
            </a:r>
            <a:r>
              <a:rPr sz="1300">
                <a:solidFill>
                  <a:srgbClr val="F8FAFC"/>
                </a:solidFill>
              </a:rPr>
              <a:t>Integrating ByteTrack / DeepSORT tracking to track vehicles continuously across multi-lane highways.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➜ Multilingual Script Recognition: </a:t>
            </a:r>
            <a:r>
              <a:rPr sz="1300">
                <a:solidFill>
                  <a:srgbClr val="F8FAFC"/>
                </a:solidFill>
              </a:rPr>
              <a:t>Expanding EasyOCR language models to recognize regional Indian scripts (Devanagari, Tamil, Telugu, Bengali).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➜ Edge Hardware Integration: </a:t>
            </a:r>
            <a:r>
              <a:rPr sz="1300">
                <a:solidFill>
                  <a:srgbClr val="F8FAFC"/>
                </a:solidFill>
              </a:rPr>
              <a:t>Compiling YOLO models to TensorRT and ONNX for deployment on NVIDIA Jetson Orin and Raspberry Pi 5.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</a:rPr>
              <a:t>➜ Automated Database Logging: </a:t>
            </a:r>
            <a:r>
              <a:rPr sz="1300">
                <a:solidFill>
                  <a:srgbClr val="F8FAFC"/>
                </a:solidFill>
              </a:rPr>
              <a:t>Connecting telemetry stream to PostgreSQL / Redis for timestamped vehicle ingress and egress auditing.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Key Takeaways &amp;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100% Free &amp; Open Source: </a:t>
            </a:r>
            <a:r>
              <a:rPr sz="1300">
                <a:solidFill>
                  <a:srgbClr val="F8FAFC"/>
                </a:solidFill>
              </a:rPr>
              <a:t>Zero dependence on paid third-party APIs (Google Vision, AWS Rekognition).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Dual-Domain Intelligence: </a:t>
            </a:r>
            <a:r>
              <a:rPr sz="1300">
                <a:solidFill>
                  <a:srgbClr val="F8FAFC"/>
                </a:solidFill>
              </a:rPr>
              <a:t>Combines plate detection with vehicle model, paint color, and camera orientation heuristics.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Humanized Haulix Design: </a:t>
            </a:r>
            <a:r>
              <a:rPr sz="1300">
                <a:solidFill>
                  <a:srgbClr val="F8FAFC"/>
                </a:solidFill>
              </a:rPr>
              <a:t>Transformed a generic prototype into an enterprise-grade dark fleet operations tablet dashboard.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Globally Live &amp; Runnable: </a:t>
            </a:r>
            <a:r>
              <a:rPr sz="1300">
                <a:solidFill>
                  <a:srgbClr val="F8FAFC"/>
                </a:solidFill>
              </a:rPr>
              <a:t>Fully functional right now via live Cloudflare HTTPS URL and local batch launcher.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